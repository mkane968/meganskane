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96" r:id="rId1"/>
  </p:sldMasterIdLst>
  <p:notesMasterIdLst>
    <p:notesMasterId r:id="rId20"/>
  </p:notesMasterIdLst>
  <p:sldIdLst>
    <p:sldId id="256" r:id="rId2"/>
    <p:sldId id="257" r:id="rId3"/>
    <p:sldId id="258" r:id="rId4"/>
    <p:sldId id="283" r:id="rId5"/>
    <p:sldId id="264" r:id="rId6"/>
    <p:sldId id="284" r:id="rId7"/>
    <p:sldId id="261" r:id="rId8"/>
    <p:sldId id="262" r:id="rId9"/>
    <p:sldId id="263" r:id="rId10"/>
    <p:sldId id="271" r:id="rId11"/>
    <p:sldId id="275" r:id="rId12"/>
    <p:sldId id="277" r:id="rId13"/>
    <p:sldId id="278" r:id="rId14"/>
    <p:sldId id="281" r:id="rId15"/>
    <p:sldId id="280" r:id="rId16"/>
    <p:sldId id="282" r:id="rId17"/>
    <p:sldId id="260" r:id="rId18"/>
    <p:sldId id="285"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677"/>
    <p:restoredTop sz="94662"/>
  </p:normalViewPr>
  <p:slideViewPr>
    <p:cSldViewPr snapToGrid="0">
      <p:cViewPr>
        <p:scale>
          <a:sx n="112" d="100"/>
          <a:sy n="112" d="100"/>
        </p:scale>
        <p:origin x="-376" y="7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5465606-E82E-6046-BD4A-535ED02510C5}" type="datetimeFigureOut">
              <a:rPr lang="en-US" smtClean="0"/>
              <a:t>8/31/26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AF4212E-C91D-8647-AA6B-5A53A83FE11C}" type="slidenum">
              <a:rPr lang="en-US" smtClean="0"/>
              <a:t>‹#›</a:t>
            </a:fld>
            <a:endParaRPr lang="en-US"/>
          </a:p>
        </p:txBody>
      </p:sp>
    </p:spTree>
    <p:extLst>
      <p:ext uri="{BB962C8B-B14F-4D97-AF65-F5344CB8AC3E}">
        <p14:creationId xmlns:p14="http://schemas.microsoft.com/office/powerpoint/2010/main" val="17175727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en-US"/>
              <a:t>Click to edit Master title style</a:t>
            </a:r>
            <a:endParaRPr lang="en-US" dirty="0"/>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1160EA64-D806-43AC-9DF2-F8C432F32B4C}" type="datetimeFigureOut">
              <a:rPr lang="en-US" dirty="0"/>
              <a:t>8/31/26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070A7B3-6521-4DCA-87E5-044747A908C1}" type="datetimeFigureOut">
              <a:rPr lang="en-US" dirty="0"/>
              <a:t>8/31/26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en-US"/>
              <a:t>Click to edit Master title style</a:t>
            </a:r>
            <a:endParaRPr lang="en-US" dirty="0"/>
          </a:p>
        </p:txBody>
      </p:sp>
      <p:sp>
        <p:nvSpPr>
          <p:cNvPr id="3" name="Text Placeholder 2"/>
          <p:cNvSpPr>
            <a:spLocks noGrp="1"/>
          </p:cNvSpPr>
          <p:nvPr>
            <p:ph type="body" idx="1"/>
          </p:nvPr>
        </p:nvSpPr>
        <p:spPr>
          <a:xfrm>
            <a:off x="2695194" y="4352465"/>
            <a:ext cx="6801612"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Date Placeholder 6"/>
          <p:cNvSpPr>
            <a:spLocks noGrp="1"/>
          </p:cNvSpPr>
          <p:nvPr>
            <p:ph type="dt" sz="half" idx="10"/>
          </p:nvPr>
        </p:nvSpPr>
        <p:spPr/>
        <p:txBody>
          <a:bodyPr/>
          <a:lstStyle/>
          <a:p>
            <a:fld id="{1160EA64-D806-43AC-9DF2-F8C432F32B4C}" type="datetimeFigureOut">
              <a:rPr lang="en-US" dirty="0"/>
              <a:t>8/31/26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581912" y="2638044"/>
            <a:ext cx="4271771"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38315" y="2638044"/>
            <a:ext cx="4270247"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AB134690-1557-4C89-A502-4959FE7FAD70}" type="datetimeFigureOut">
              <a:rPr lang="en-US" dirty="0"/>
              <a:t>8/31/26</a:t>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83436" y="3143250"/>
            <a:ext cx="4270248" cy="25967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4"/>
          </p:nvPr>
        </p:nvSpPr>
        <p:spPr>
          <a:xfrm>
            <a:off x="6338316" y="3143250"/>
            <a:ext cx="4253484" cy="2596776"/>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4"/>
          <p:cNvSpPr>
            <a:spLocks noGrp="1"/>
          </p:cNvSpPr>
          <p:nvPr>
            <p:ph type="body" sz="quarter" idx="13"/>
          </p:nvPr>
        </p:nvSpPr>
        <p:spPr>
          <a:xfrm>
            <a:off x="633831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Date Placeholder 6"/>
          <p:cNvSpPr>
            <a:spLocks noGrp="1"/>
          </p:cNvSpPr>
          <p:nvPr>
            <p:ph type="dt" sz="half" idx="10"/>
          </p:nvPr>
        </p:nvSpPr>
        <p:spPr/>
        <p:txBody>
          <a:bodyPr/>
          <a:lstStyle/>
          <a:p>
            <a:fld id="{4F7D4976-E339-4826-83B7-FBD03F55ECF8}" type="datetimeFigureOut">
              <a:rPr lang="en-US" dirty="0"/>
              <a:t>8/31/26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t>‹#›</a:t>
            </a:fld>
            <a:endParaRPr lang="en-US" dirty="0"/>
          </a:p>
        </p:txBody>
      </p:sp>
      <p:sp>
        <p:nvSpPr>
          <p:cNvPr id="10" name="Title 9"/>
          <p:cNvSpPr>
            <a:spLocks noGrp="1"/>
          </p:cNvSpPr>
          <p:nvPr>
            <p:ph type="title"/>
          </p:nvPr>
        </p:nvSpPr>
        <p:spPr/>
        <p:txBody>
          <a:bodyPr/>
          <a:lstStyle/>
          <a:p>
            <a:r>
              <a:rPr lang="en-US"/>
              <a:t>Click to edit Master title style</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1037C31-9E7A-4F99-8774-A0E530DE1A42}" type="datetimeFigureOut">
              <a:rPr lang="en-US" dirty="0"/>
              <a:t>8/31/26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278504F-A551-4DE0-9316-4DCD1D8CC752}" type="datetimeFigureOut">
              <a:rPr lang="en-US" dirty="0"/>
              <a:t>8/31/26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en-US"/>
              <a:t>Click to edit Master title style</a:t>
            </a:r>
            <a:endParaRPr lang="en-US" dirty="0"/>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Date Placeholder 8"/>
          <p:cNvSpPr>
            <a:spLocks noGrp="1"/>
          </p:cNvSpPr>
          <p:nvPr>
            <p:ph type="dt" sz="half" idx="10"/>
          </p:nvPr>
        </p:nvSpPr>
        <p:spPr/>
        <p:txBody>
          <a:bodyPr/>
          <a:lstStyle/>
          <a:p>
            <a:fld id="{D1BE4249-C0D0-4B06-8692-E8BB871AF643}" type="datetimeFigureOut">
              <a:rPr lang="en-US" dirty="0"/>
              <a:t>8/31/26</a:t>
            </a:fld>
            <a:endParaRPr lang="en-US" dirty="0"/>
          </a:p>
        </p:txBody>
      </p:sp>
      <p:sp>
        <p:nvSpPr>
          <p:cNvPr id="10" name="Footer Placeholder 9"/>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dirty="0"/>
          </a:p>
        </p:txBody>
      </p:sp>
      <p:sp>
        <p:nvSpPr>
          <p:cNvPr id="11" name="Slide Number Placeholder 10"/>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8" name="Rectangle 17"/>
          <p:cNvSpPr/>
          <p:nvPr/>
        </p:nvSpPr>
        <p:spPr>
          <a:xfrm>
            <a:off x="0" y="0"/>
            <a:ext cx="6095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8523" y="2243828"/>
            <a:ext cx="4494998"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9" y="0"/>
            <a:ext cx="6102097" cy="6858000"/>
          </a:xfrm>
          <a:solidFill>
            <a:schemeClr val="bg1">
              <a:lumMod val="7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15568" y="3549918"/>
            <a:ext cx="379476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042B0DB6-F5C7-45FB-8CF3-31B45F9C2DAC}" type="datetimeFigureOut">
              <a:rPr lang="en-US" dirty="0"/>
              <a:t>8/31/26</a:t>
            </a:fld>
            <a:endParaRPr lang="en-US" dirty="0"/>
          </a:p>
        </p:txBody>
      </p:sp>
      <p:sp>
        <p:nvSpPr>
          <p:cNvPr id="9" name="Footer Placeholder 8"/>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dirty="0"/>
          </a:p>
        </p:txBody>
      </p:sp>
      <p:sp>
        <p:nvSpPr>
          <p:cNvPr id="10" name="Slide Number Placeholder 9"/>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9F9C37B-1D36-470B-8223-D6C91242EC14}" type="datetimeFigureOut">
              <a:rPr lang="en-US" dirty="0"/>
              <a:t>8/31/26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7C6F52A-A82B-47A2-A83A-8C4C91F2D59F}" type="datetimeFigureOut">
              <a:rPr lang="en-US" dirty="0"/>
              <a:t>8/31/26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231136" y="964692"/>
            <a:ext cx="7729728"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31136" y="2638044"/>
            <a:ext cx="7729728" cy="310198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821429" y="6238816"/>
            <a:ext cx="2753746" cy="323968"/>
          </a:xfrm>
          <a:prstGeom prst="rect">
            <a:avLst/>
          </a:prstGeom>
        </p:spPr>
        <p:txBody>
          <a:bodyPr vert="horz" lIns="91440" tIns="45720" rIns="91440" bIns="45720" rtlCol="0" anchor="ctr"/>
          <a:lstStyle>
            <a:lvl1pPr algn="r">
              <a:defRPr sz="1050">
                <a:solidFill>
                  <a:schemeClr val="tx1">
                    <a:alpha val="70000"/>
                  </a:schemeClr>
                </a:solidFill>
              </a:defRPr>
            </a:lvl1pPr>
          </a:lstStyle>
          <a:p>
            <a:fld id="{1160EA64-D806-43AC-9DF2-F8C432F32B4C}" type="datetimeFigureOut">
              <a:rPr lang="en-US" dirty="0"/>
              <a:t>8/31/26</a:t>
            </a:fld>
            <a:endParaRPr lang="en-US" dirty="0"/>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1050">
                <a:solidFill>
                  <a:schemeClr val="tx1">
                    <a:alpha val="70000"/>
                  </a:schemeClr>
                </a:solidFill>
              </a:defRPr>
            </a:lvl1pPr>
          </a:lstStyle>
          <a:p>
            <a:endParaRPr lang="en-US" dirty="0"/>
          </a:p>
        </p:txBody>
      </p:sp>
      <p:sp>
        <p:nvSpPr>
          <p:cNvPr id="6" name="Slide Number Placeholder 5"/>
          <p:cNvSpPr>
            <a:spLocks noGrp="1"/>
          </p:cNvSpPr>
          <p:nvPr>
            <p:ph type="sldNum" sz="quarter" idx="4"/>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lvl1pPr algn="ctr">
              <a:defRPr sz="1100" spc="0" baseline="0">
                <a:solidFill>
                  <a:srgbClr val="FFFFFF"/>
                </a:solidFill>
              </a:defRPr>
            </a:lvl1pPr>
          </a:lstStyle>
          <a:p>
            <a:fld id="{8A7A6979-0714-4377-B894-6BE4C2D6E202}"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hf sldNum="0" hdr="0" ftr="0" dt="0"/>
  <p:txStyles>
    <p:title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https://meganskane.com/courses.html"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hyperlink" Target="https://dhdebates.gc.cuny.edu/read/untitled-f2acf72c-a469-49d8-be35-67f9ac1e3a60/section/620caf9f-08a8-485e-a496-51400296ebcd" TargetMode="External"/><Relationship Id="rId3" Type="http://schemas.openxmlformats.org/officeDocument/2006/relationships/hyperlink" Target="https://methods.clsinfra.io/general-intro.html" TargetMode="External"/><Relationship Id="rId7" Type="http://schemas.openxmlformats.org/officeDocument/2006/relationships/hyperlink" Target="https://dhdebates.gc.cuny.edu/read/untitled-f2acf72c-a469-49d8-be35-67f9ac1e3a60/section/620caf9f-08a8-485e-a496-51400296ebcd?utm_source=chatgpt.com" TargetMode="External"/><Relationship Id="rId2" Type="http://schemas.openxmlformats.org/officeDocument/2006/relationships/hyperlink" Target="https://methods.clsinfra.io/general-intro.html?utm_source=chatgpt.com" TargetMode="External"/><Relationship Id="rId1" Type="http://schemas.openxmlformats.org/officeDocument/2006/relationships/slideLayout" Target="../slideLayouts/slideLayout2.xml"/><Relationship Id="rId6" Type="http://schemas.openxmlformats.org/officeDocument/2006/relationships/hyperlink" Target="https://www.jstor.org/stable/26621899" TargetMode="External"/><Relationship Id="rId5" Type="http://schemas.openxmlformats.org/officeDocument/2006/relationships/hyperlink" Target="https://www.jstor.org/stable/27037543?seq=1" TargetMode="External"/><Relationship Id="rId4" Type="http://schemas.openxmlformats.org/officeDocument/2006/relationships/hyperlink" Target="https://www.cambridge.org/core/journals/pmla/article/machine-learning-and-human-perspective/00DFAFA05F458E95E06894E3A9DE8060?utm_source=chatgpt.com"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colab.research.google.com/drive/1Vz_n3qLmQCwkgMHoq1JK1RR6haLh8fa0?usp=sharing" TargetMode="External"/><Relationship Id="rId2" Type="http://schemas.openxmlformats.org/officeDocument/2006/relationships/hyperlink" Target="https://voyant.lincsproject.ca/?corpus=shakespeare"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8" Type="http://schemas.openxmlformats.org/officeDocument/2006/relationships/hyperlink" Target="https://github.com/aparrish/gutenberg-poetry-corpus?utm_source=chatgpt.com" TargetMode="External"/><Relationship Id="rId3" Type="http://schemas.openxmlformats.org/officeDocument/2006/relationships/hyperlink" Target="https://litlab.stanford.edu/LiteraryLabPamphlet11.pdf?utm_source=chatgpt.com" TargetMode="External"/><Relationship Id="rId7" Type="http://schemas.openxmlformats.org/officeDocument/2006/relationships/hyperlink" Target="https://www.folger.edu/explore/shakespeares-works/download/?utm_source=chatgpt.com" TargetMode="External"/><Relationship Id="rId2" Type="http://schemas.openxmlformats.org/officeDocument/2006/relationships/hyperlink" Target="https://culturalanalytics.org/article/id/1298/?utm_source=chatgpt.com" TargetMode="External"/><Relationship Id="rId1" Type="http://schemas.openxmlformats.org/officeDocument/2006/relationships/slideLayout" Target="../slideLayouts/slideLayout2.xml"/><Relationship Id="rId6" Type="http://schemas.openxmlformats.org/officeDocument/2006/relationships/hyperlink" Target="https://github.com/mahlberg-lab/corpora?utm_source=chatgpt.com" TargetMode="External"/><Relationship Id="rId5" Type="http://schemas.openxmlformats.org/officeDocument/2006/relationships/hyperlink" Target="https://culturalanalytics.org/article/id/990/?utm_source=chatgpt.com" TargetMode="External"/><Relationship Id="rId4" Type="http://schemas.openxmlformats.org/officeDocument/2006/relationships/hyperlink" Target="https://culturalanalytics.org/article/id/1185/?utm_source=chatgpt.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40CAEC-35DC-4833-6E70-EAFADE09428E}"/>
              </a:ext>
            </a:extLst>
          </p:cNvPr>
          <p:cNvSpPr>
            <a:spLocks noGrp="1"/>
          </p:cNvSpPr>
          <p:nvPr>
            <p:ph type="title"/>
          </p:nvPr>
        </p:nvSpPr>
        <p:spPr/>
        <p:txBody>
          <a:bodyPr/>
          <a:lstStyle/>
          <a:p>
            <a:r>
              <a:rPr lang="en-US" dirty="0"/>
              <a:t>Welcome to digital text methods</a:t>
            </a:r>
          </a:p>
        </p:txBody>
      </p:sp>
      <p:sp>
        <p:nvSpPr>
          <p:cNvPr id="4" name="Content Placeholder 3">
            <a:extLst>
              <a:ext uri="{FF2B5EF4-FFF2-40B4-BE49-F238E27FC236}">
                <a16:creationId xmlns:a16="http://schemas.microsoft.com/office/drawing/2014/main" id="{A723C0E4-003A-3A62-0A6A-1DEE2977183A}"/>
              </a:ext>
            </a:extLst>
          </p:cNvPr>
          <p:cNvSpPr>
            <a:spLocks noGrp="1"/>
          </p:cNvSpPr>
          <p:nvPr>
            <p:ph idx="1"/>
          </p:nvPr>
        </p:nvSpPr>
        <p:spPr/>
        <p:txBody>
          <a:bodyPr/>
          <a:lstStyle/>
          <a:p>
            <a:r>
              <a:rPr lang="en-US" sz="2000" dirty="0"/>
              <a:t>As You Enter</a:t>
            </a:r>
          </a:p>
          <a:p>
            <a:pPr lvl="1"/>
            <a:r>
              <a:rPr lang="en-US" dirty="0"/>
              <a:t>Take a seat anywhere you would like!</a:t>
            </a:r>
          </a:p>
          <a:p>
            <a:pPr lvl="1"/>
            <a:r>
              <a:rPr lang="en-US" dirty="0"/>
              <a:t>Write your name on the front of the journal on your desk</a:t>
            </a:r>
          </a:p>
          <a:p>
            <a:pPr lvl="1"/>
            <a:r>
              <a:rPr lang="en-US" dirty="0"/>
              <a:t>On the first page, write down the following:</a:t>
            </a:r>
          </a:p>
          <a:p>
            <a:pPr lvl="2"/>
            <a:r>
              <a:rPr lang="en-US" dirty="0"/>
              <a:t>A book you’re currently reading</a:t>
            </a:r>
          </a:p>
          <a:p>
            <a:pPr lvl="2"/>
            <a:r>
              <a:rPr lang="en-US" dirty="0"/>
              <a:t>A topic you’re currently researching (in class or on your own)</a:t>
            </a:r>
          </a:p>
          <a:p>
            <a:pPr lvl="2"/>
            <a:r>
              <a:rPr lang="en-US" dirty="0"/>
              <a:t>A goal you have for this semester (in or beyond the classroom</a:t>
            </a:r>
          </a:p>
        </p:txBody>
      </p:sp>
    </p:spTree>
    <p:extLst>
      <p:ext uri="{BB962C8B-B14F-4D97-AF65-F5344CB8AC3E}">
        <p14:creationId xmlns:p14="http://schemas.microsoft.com/office/powerpoint/2010/main" val="7123828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A57163-8634-21D8-DE82-36449ECACC20}"/>
              </a:ext>
            </a:extLst>
          </p:cNvPr>
          <p:cNvSpPr>
            <a:spLocks noGrp="1"/>
          </p:cNvSpPr>
          <p:nvPr>
            <p:ph type="title"/>
          </p:nvPr>
        </p:nvSpPr>
        <p:spPr/>
        <p:txBody>
          <a:bodyPr/>
          <a:lstStyle/>
          <a:p>
            <a:r>
              <a:rPr lang="en-US" dirty="0"/>
              <a:t>Agenda</a:t>
            </a:r>
          </a:p>
        </p:txBody>
      </p:sp>
      <p:sp>
        <p:nvSpPr>
          <p:cNvPr id="3" name="Content Placeholder 2">
            <a:extLst>
              <a:ext uri="{FF2B5EF4-FFF2-40B4-BE49-F238E27FC236}">
                <a16:creationId xmlns:a16="http://schemas.microsoft.com/office/drawing/2014/main" id="{6D74A360-4F86-1282-23D9-C3773BE55FF2}"/>
              </a:ext>
            </a:extLst>
          </p:cNvPr>
          <p:cNvSpPr>
            <a:spLocks noGrp="1"/>
          </p:cNvSpPr>
          <p:nvPr>
            <p:ph idx="1"/>
          </p:nvPr>
        </p:nvSpPr>
        <p:spPr/>
        <p:txBody>
          <a:bodyPr/>
          <a:lstStyle/>
          <a:p>
            <a:r>
              <a:rPr lang="en-US" dirty="0"/>
              <a:t>Introductions</a:t>
            </a:r>
          </a:p>
          <a:p>
            <a:r>
              <a:rPr lang="en-US" dirty="0"/>
              <a:t>Review Course Policies</a:t>
            </a:r>
          </a:p>
          <a:p>
            <a:r>
              <a:rPr lang="en-US" dirty="0"/>
              <a:t>Readings Discussion</a:t>
            </a:r>
          </a:p>
          <a:p>
            <a:r>
              <a:rPr lang="en-US" dirty="0"/>
              <a:t>Digital Text Methods Demo</a:t>
            </a:r>
          </a:p>
          <a:p>
            <a:endParaRPr lang="en-US" dirty="0"/>
          </a:p>
          <a:p>
            <a:pPr marL="0" indent="0">
              <a:buNone/>
            </a:pPr>
            <a:endParaRPr lang="en-US" dirty="0"/>
          </a:p>
        </p:txBody>
      </p:sp>
    </p:spTree>
    <p:extLst>
      <p:ext uri="{BB962C8B-B14F-4D97-AF65-F5344CB8AC3E}">
        <p14:creationId xmlns:p14="http://schemas.microsoft.com/office/powerpoint/2010/main" val="1283444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DBDF8E-CAA4-DF85-52AB-37FFB9312FFA}"/>
              </a:ext>
            </a:extLst>
          </p:cNvPr>
          <p:cNvSpPr>
            <a:spLocks noGrp="1"/>
          </p:cNvSpPr>
          <p:nvPr>
            <p:ph type="title"/>
          </p:nvPr>
        </p:nvSpPr>
        <p:spPr/>
        <p:txBody>
          <a:bodyPr/>
          <a:lstStyle/>
          <a:p>
            <a:r>
              <a:rPr lang="en-US" dirty="0"/>
              <a:t>Course goals</a:t>
            </a:r>
          </a:p>
        </p:txBody>
      </p:sp>
      <p:sp>
        <p:nvSpPr>
          <p:cNvPr id="3" name="Content Placeholder 2">
            <a:extLst>
              <a:ext uri="{FF2B5EF4-FFF2-40B4-BE49-F238E27FC236}">
                <a16:creationId xmlns:a16="http://schemas.microsoft.com/office/drawing/2014/main" id="{6FA80149-FE86-B074-6F88-51B581E39F69}"/>
              </a:ext>
            </a:extLst>
          </p:cNvPr>
          <p:cNvSpPr>
            <a:spLocks noGrp="1"/>
          </p:cNvSpPr>
          <p:nvPr>
            <p:ph idx="1"/>
          </p:nvPr>
        </p:nvSpPr>
        <p:spPr>
          <a:xfrm>
            <a:off x="2231136" y="2638044"/>
            <a:ext cx="7729728" cy="3255264"/>
          </a:xfrm>
        </p:spPr>
        <p:txBody>
          <a:bodyPr>
            <a:normAutofit fontScale="92500" lnSpcReduction="10000"/>
          </a:bodyPr>
          <a:lstStyle/>
          <a:p>
            <a:pPr marL="0" lvl="0" indent="0">
              <a:buNone/>
            </a:pPr>
            <a:r>
              <a:rPr lang="en-US" dirty="0"/>
              <a:t>This course introduces computational approaches to textual analysis using large collections of texts, or corpora. By the end of the semester, you will be able to:</a:t>
            </a:r>
          </a:p>
          <a:p>
            <a:pPr lvl="0"/>
            <a:r>
              <a:rPr lang="en-US" dirty="0"/>
              <a:t>Assemble and document a collection of texts appropriate for investigating a research question</a:t>
            </a:r>
          </a:p>
          <a:p>
            <a:pPr lvl="0"/>
            <a:r>
              <a:rPr lang="en-US" dirty="0"/>
              <a:t>Develop focused research questions that can be explored through computational and interpretive analysis</a:t>
            </a:r>
          </a:p>
          <a:p>
            <a:pPr lvl="0"/>
            <a:r>
              <a:rPr lang="en-US" dirty="0"/>
              <a:t>Apply and evaluate multiple computational methods</a:t>
            </a:r>
          </a:p>
          <a:p>
            <a:pPr lvl="0"/>
            <a:r>
              <a:rPr lang="en-US" dirty="0"/>
              <a:t>Interpret computational results</a:t>
            </a:r>
          </a:p>
          <a:p>
            <a:pPr lvl="0"/>
            <a:r>
              <a:rPr lang="en-US" dirty="0"/>
              <a:t>Critically assess what factors shape interpretive outcomes</a:t>
            </a:r>
          </a:p>
          <a:p>
            <a:pPr lvl="0"/>
            <a:r>
              <a:rPr lang="en-US" dirty="0"/>
              <a:t>Design, execute, and document an original corpus-based case study</a:t>
            </a:r>
          </a:p>
        </p:txBody>
      </p:sp>
    </p:spTree>
    <p:extLst>
      <p:ext uri="{BB962C8B-B14F-4D97-AF65-F5344CB8AC3E}">
        <p14:creationId xmlns:p14="http://schemas.microsoft.com/office/powerpoint/2010/main" val="31667023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6D61C4-50B4-B575-413E-4DE6A05CE740}"/>
              </a:ext>
            </a:extLst>
          </p:cNvPr>
          <p:cNvSpPr>
            <a:spLocks noGrp="1"/>
          </p:cNvSpPr>
          <p:nvPr>
            <p:ph type="title"/>
          </p:nvPr>
        </p:nvSpPr>
        <p:spPr/>
        <p:txBody>
          <a:bodyPr/>
          <a:lstStyle/>
          <a:p>
            <a:r>
              <a:rPr lang="en-US" dirty="0"/>
              <a:t>Syllabus</a:t>
            </a:r>
          </a:p>
        </p:txBody>
      </p:sp>
      <p:sp>
        <p:nvSpPr>
          <p:cNvPr id="3" name="Content Placeholder 2">
            <a:extLst>
              <a:ext uri="{FF2B5EF4-FFF2-40B4-BE49-F238E27FC236}">
                <a16:creationId xmlns:a16="http://schemas.microsoft.com/office/drawing/2014/main" id="{81A19311-7B6F-3393-F014-F93A485C10A3}"/>
              </a:ext>
            </a:extLst>
          </p:cNvPr>
          <p:cNvSpPr>
            <a:spLocks noGrp="1"/>
          </p:cNvSpPr>
          <p:nvPr>
            <p:ph idx="1"/>
          </p:nvPr>
        </p:nvSpPr>
        <p:spPr/>
        <p:txBody>
          <a:bodyPr/>
          <a:lstStyle/>
          <a:p>
            <a:r>
              <a:rPr lang="en-US" dirty="0"/>
              <a:t>Access here: </a:t>
            </a:r>
            <a:r>
              <a:rPr lang="en-US" dirty="0">
                <a:hlinkClick r:id="rId2"/>
              </a:rPr>
              <a:t>https://meganskane.com/courses.html</a:t>
            </a:r>
            <a:r>
              <a:rPr lang="en-US" dirty="0"/>
              <a:t> </a:t>
            </a:r>
          </a:p>
          <a:p>
            <a:r>
              <a:rPr lang="en-US" dirty="0"/>
              <a:t>To Review:</a:t>
            </a:r>
          </a:p>
          <a:p>
            <a:pPr lvl="1"/>
            <a:r>
              <a:rPr lang="en-US" dirty="0"/>
              <a:t>Major Assignments</a:t>
            </a:r>
          </a:p>
          <a:p>
            <a:pPr lvl="1"/>
            <a:r>
              <a:rPr lang="en-US" dirty="0"/>
              <a:t>Course Policies</a:t>
            </a:r>
          </a:p>
          <a:p>
            <a:pPr lvl="1"/>
            <a:r>
              <a:rPr lang="en-US" dirty="0"/>
              <a:t>Weekly Schedule</a:t>
            </a:r>
          </a:p>
        </p:txBody>
      </p:sp>
    </p:spTree>
    <p:extLst>
      <p:ext uri="{BB962C8B-B14F-4D97-AF65-F5344CB8AC3E}">
        <p14:creationId xmlns:p14="http://schemas.microsoft.com/office/powerpoint/2010/main" val="21703016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0B44F0-B187-3867-B389-2334003C8B9F}"/>
              </a:ext>
            </a:extLst>
          </p:cNvPr>
          <p:cNvSpPr>
            <a:spLocks noGrp="1"/>
          </p:cNvSpPr>
          <p:nvPr>
            <p:ph type="title"/>
          </p:nvPr>
        </p:nvSpPr>
        <p:spPr/>
        <p:txBody>
          <a:bodyPr/>
          <a:lstStyle/>
          <a:p>
            <a:r>
              <a:rPr lang="en-US" dirty="0"/>
              <a:t>Break!</a:t>
            </a:r>
          </a:p>
        </p:txBody>
      </p:sp>
      <p:sp>
        <p:nvSpPr>
          <p:cNvPr id="3" name="Content Placeholder 2">
            <a:extLst>
              <a:ext uri="{FF2B5EF4-FFF2-40B4-BE49-F238E27FC236}">
                <a16:creationId xmlns:a16="http://schemas.microsoft.com/office/drawing/2014/main" id="{3F407D29-154A-2883-FA8C-A93FC97AAF5E}"/>
              </a:ext>
            </a:extLst>
          </p:cNvPr>
          <p:cNvSpPr>
            <a:spLocks noGrp="1"/>
          </p:cNvSpPr>
          <p:nvPr>
            <p:ph idx="1"/>
          </p:nvPr>
        </p:nvSpPr>
        <p:spPr/>
        <p:txBody>
          <a:bodyPr/>
          <a:lstStyle/>
          <a:p>
            <a:r>
              <a:rPr lang="en-US" dirty="0"/>
              <a:t>Take 10 minutes to relax, stretch your legs</a:t>
            </a:r>
          </a:p>
          <a:p>
            <a:r>
              <a:rPr lang="en-US" dirty="0"/>
              <a:t>When we return, be prepared to discuss this week’s readings: </a:t>
            </a:r>
          </a:p>
          <a:p>
            <a:pPr lvl="1"/>
            <a:r>
              <a:rPr lang="en-US" dirty="0"/>
              <a:t>How does each author define computational text analysis?</a:t>
            </a:r>
          </a:p>
          <a:p>
            <a:pPr lvl="1"/>
            <a:r>
              <a:rPr lang="en-US" dirty="0"/>
              <a:t>What stance does each take toward computational methods — enthusiastic, skeptical, something in between — and what evidence or experience seems to be shaping that stance?</a:t>
            </a:r>
          </a:p>
          <a:p>
            <a:pPr lvl="1"/>
            <a:r>
              <a:rPr lang="en-US" dirty="0"/>
              <a:t>What's one claim or finding that surprised you, and why?</a:t>
            </a:r>
          </a:p>
        </p:txBody>
      </p:sp>
    </p:spTree>
    <p:extLst>
      <p:ext uri="{BB962C8B-B14F-4D97-AF65-F5344CB8AC3E}">
        <p14:creationId xmlns:p14="http://schemas.microsoft.com/office/powerpoint/2010/main" val="25078133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70E1D3-1CF2-6C63-52AB-9269547820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F37D6C-153B-E711-92CB-9953CFF69461}"/>
              </a:ext>
            </a:extLst>
          </p:cNvPr>
          <p:cNvSpPr>
            <a:spLocks noGrp="1"/>
          </p:cNvSpPr>
          <p:nvPr>
            <p:ph type="title"/>
          </p:nvPr>
        </p:nvSpPr>
        <p:spPr/>
        <p:txBody>
          <a:bodyPr/>
          <a:lstStyle/>
          <a:p>
            <a:r>
              <a:rPr lang="en-US" dirty="0"/>
              <a:t>Readings</a:t>
            </a:r>
          </a:p>
        </p:txBody>
      </p:sp>
      <p:sp>
        <p:nvSpPr>
          <p:cNvPr id="3" name="Content Placeholder 2">
            <a:extLst>
              <a:ext uri="{FF2B5EF4-FFF2-40B4-BE49-F238E27FC236}">
                <a16:creationId xmlns:a16="http://schemas.microsoft.com/office/drawing/2014/main" id="{6296D9C4-41B0-4F03-D736-AE940ACC8E58}"/>
              </a:ext>
            </a:extLst>
          </p:cNvPr>
          <p:cNvSpPr>
            <a:spLocks noGrp="1"/>
          </p:cNvSpPr>
          <p:nvPr>
            <p:ph idx="1"/>
          </p:nvPr>
        </p:nvSpPr>
        <p:spPr/>
        <p:txBody>
          <a:bodyPr/>
          <a:lstStyle/>
          <a:p>
            <a:pPr lvl="0"/>
            <a:r>
              <a:rPr lang="en-US" dirty="0"/>
              <a:t>Christof </a:t>
            </a:r>
            <a:r>
              <a:rPr lang="en-US" dirty="0" err="1"/>
              <a:t>Schöch</a:t>
            </a:r>
            <a:r>
              <a:rPr lang="en-US" dirty="0"/>
              <a:t>, Julia Dudar, and </a:t>
            </a:r>
            <a:r>
              <a:rPr lang="en-US" dirty="0" err="1"/>
              <a:t>Evegniia</a:t>
            </a:r>
            <a:r>
              <a:rPr lang="en-US" dirty="0"/>
              <a:t> </a:t>
            </a:r>
            <a:r>
              <a:rPr lang="en-US" dirty="0" err="1"/>
              <a:t>Fileva</a:t>
            </a:r>
            <a:r>
              <a:rPr lang="en-US" dirty="0"/>
              <a:t>,</a:t>
            </a:r>
            <a:r>
              <a:rPr lang="en-US" dirty="0">
                <a:hlinkClick r:id="rId2"/>
              </a:rPr>
              <a:t> </a:t>
            </a:r>
            <a:r>
              <a:rPr lang="en-US" dirty="0">
                <a:hlinkClick r:id="rId3"/>
              </a:rPr>
              <a:t>“General Introduction,” </a:t>
            </a:r>
            <a:r>
              <a:rPr lang="en-US" i="1" dirty="0">
                <a:hlinkClick r:id="rId2"/>
              </a:rPr>
              <a:t>Survey of Methods in Computational Literary Studies</a:t>
            </a:r>
            <a:r>
              <a:rPr lang="en-US" dirty="0"/>
              <a:t> (2023)</a:t>
            </a:r>
          </a:p>
          <a:p>
            <a:pPr lvl="0"/>
            <a:r>
              <a:rPr lang="en-US" dirty="0"/>
              <a:t>Ted Underwood,</a:t>
            </a:r>
            <a:r>
              <a:rPr lang="en-US" dirty="0">
                <a:hlinkClick r:id="rId4"/>
              </a:rPr>
              <a:t> </a:t>
            </a:r>
            <a:r>
              <a:rPr lang="en-US" dirty="0">
                <a:hlinkClick r:id="rId5"/>
              </a:rPr>
              <a:t>“Machine Learning and Human Perspective”</a:t>
            </a:r>
            <a:r>
              <a:rPr lang="en-US" dirty="0"/>
              <a:t> (2020)</a:t>
            </a:r>
          </a:p>
          <a:p>
            <a:pPr lvl="0"/>
            <a:r>
              <a:rPr lang="en-US" dirty="0"/>
              <a:t>Nan Z. Da, </a:t>
            </a:r>
            <a:r>
              <a:rPr lang="en-US" dirty="0">
                <a:hlinkClick r:id="rId6"/>
              </a:rPr>
              <a:t>“The Computational Case against Computational Literary Studies” </a:t>
            </a:r>
            <a:endParaRPr lang="en-US" dirty="0"/>
          </a:p>
          <a:p>
            <a:pPr lvl="0"/>
            <a:r>
              <a:rPr lang="en-US" dirty="0"/>
              <a:t>Andrew Goldstone,</a:t>
            </a:r>
            <a:r>
              <a:rPr lang="en-US" dirty="0">
                <a:hlinkClick r:id="rId7"/>
              </a:rPr>
              <a:t> </a:t>
            </a:r>
            <a:r>
              <a:rPr lang="en-US" dirty="0">
                <a:hlinkClick r:id="rId8"/>
              </a:rPr>
              <a:t>“Teaching Quantitative Methods: What Makes It Hard (in Literary Studies)”</a:t>
            </a:r>
            <a:r>
              <a:rPr lang="en-US" dirty="0"/>
              <a:t> (2019)</a:t>
            </a:r>
          </a:p>
          <a:p>
            <a:endParaRPr lang="en-US" dirty="0"/>
          </a:p>
        </p:txBody>
      </p:sp>
    </p:spTree>
    <p:extLst>
      <p:ext uri="{BB962C8B-B14F-4D97-AF65-F5344CB8AC3E}">
        <p14:creationId xmlns:p14="http://schemas.microsoft.com/office/powerpoint/2010/main" val="25880576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02FCDF-EED7-C3A3-B7A3-0B7E55A6F044}"/>
              </a:ext>
            </a:extLst>
          </p:cNvPr>
          <p:cNvSpPr>
            <a:spLocks noGrp="1"/>
          </p:cNvSpPr>
          <p:nvPr>
            <p:ph type="title"/>
          </p:nvPr>
        </p:nvSpPr>
        <p:spPr/>
        <p:txBody>
          <a:bodyPr/>
          <a:lstStyle/>
          <a:p>
            <a:r>
              <a:rPr lang="en-US" dirty="0"/>
              <a:t>Survey of General methods</a:t>
            </a:r>
          </a:p>
        </p:txBody>
      </p:sp>
      <p:sp>
        <p:nvSpPr>
          <p:cNvPr id="3" name="Content Placeholder 2">
            <a:extLst>
              <a:ext uri="{FF2B5EF4-FFF2-40B4-BE49-F238E27FC236}">
                <a16:creationId xmlns:a16="http://schemas.microsoft.com/office/drawing/2014/main" id="{AFD6F953-E666-E817-DB89-EF05A69DCFDF}"/>
              </a:ext>
            </a:extLst>
          </p:cNvPr>
          <p:cNvSpPr>
            <a:spLocks noGrp="1"/>
          </p:cNvSpPr>
          <p:nvPr>
            <p:ph idx="1"/>
          </p:nvPr>
        </p:nvSpPr>
        <p:spPr>
          <a:xfrm>
            <a:off x="2231136" y="2638043"/>
            <a:ext cx="7729728" cy="3793753"/>
          </a:xfrm>
        </p:spPr>
        <p:txBody>
          <a:bodyPr>
            <a:normAutofit/>
          </a:bodyPr>
          <a:lstStyle/>
          <a:p>
            <a:pPr lvl="0"/>
            <a:r>
              <a:rPr lang="en-US" sz="2000" dirty="0"/>
              <a:t>Aims to document current and widespread practices in Computational Literary Studies (CLS)</a:t>
            </a:r>
          </a:p>
          <a:p>
            <a:pPr lvl="0"/>
            <a:r>
              <a:rPr lang="en-US" sz="2000" dirty="0"/>
              <a:t>Identifies several major areas of analysis: </a:t>
            </a:r>
          </a:p>
          <a:p>
            <a:pPr lvl="1"/>
            <a:r>
              <a:rPr lang="en-US" sz="1800" dirty="0"/>
              <a:t>Stylometric authorship attribution</a:t>
            </a:r>
          </a:p>
          <a:p>
            <a:pPr lvl="1"/>
            <a:r>
              <a:rPr lang="en-US" sz="1800" dirty="0"/>
              <a:t>Literary genre analysis</a:t>
            </a:r>
          </a:p>
          <a:p>
            <a:pPr lvl="1"/>
            <a:r>
              <a:rPr lang="en-US" sz="1800" dirty="0"/>
              <a:t>Literary history</a:t>
            </a:r>
          </a:p>
          <a:p>
            <a:pPr lvl="1"/>
            <a:r>
              <a:rPr lang="en-US" sz="1800" dirty="0"/>
              <a:t>Gender analysis</a:t>
            </a:r>
          </a:p>
          <a:p>
            <a:pPr lvl="1"/>
            <a:r>
              <a:rPr lang="en-US" sz="1800" dirty="0"/>
              <a:t>Canonicity and prestige</a:t>
            </a:r>
          </a:p>
        </p:txBody>
      </p:sp>
    </p:spTree>
    <p:extLst>
      <p:ext uri="{BB962C8B-B14F-4D97-AF65-F5344CB8AC3E}">
        <p14:creationId xmlns:p14="http://schemas.microsoft.com/office/powerpoint/2010/main" val="32688699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FC5FFF-AD58-B572-29B5-16221CDFBD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67AE6E-BF17-9107-B65F-231534DEF99A}"/>
              </a:ext>
            </a:extLst>
          </p:cNvPr>
          <p:cNvSpPr>
            <a:spLocks noGrp="1"/>
          </p:cNvSpPr>
          <p:nvPr>
            <p:ph type="title"/>
          </p:nvPr>
        </p:nvSpPr>
        <p:spPr/>
        <p:txBody>
          <a:bodyPr/>
          <a:lstStyle/>
          <a:p>
            <a:r>
              <a:rPr lang="en-US" dirty="0"/>
              <a:t>Survey of General methods</a:t>
            </a:r>
          </a:p>
        </p:txBody>
      </p:sp>
      <p:sp>
        <p:nvSpPr>
          <p:cNvPr id="3" name="Content Placeholder 2">
            <a:extLst>
              <a:ext uri="{FF2B5EF4-FFF2-40B4-BE49-F238E27FC236}">
                <a16:creationId xmlns:a16="http://schemas.microsoft.com/office/drawing/2014/main" id="{39C70BE8-A313-3FCB-8A7C-A1836D902591}"/>
              </a:ext>
            </a:extLst>
          </p:cNvPr>
          <p:cNvSpPr>
            <a:spLocks noGrp="1"/>
          </p:cNvSpPr>
          <p:nvPr>
            <p:ph idx="1"/>
          </p:nvPr>
        </p:nvSpPr>
        <p:spPr>
          <a:xfrm>
            <a:off x="2231136" y="2638044"/>
            <a:ext cx="7729728" cy="3629752"/>
          </a:xfrm>
        </p:spPr>
        <p:txBody>
          <a:bodyPr>
            <a:normAutofit fontScale="92500" lnSpcReduction="10000"/>
          </a:bodyPr>
          <a:lstStyle/>
          <a:p>
            <a:r>
              <a:rPr lang="en-US" dirty="0"/>
              <a:t>Describes steps in the research process:</a:t>
            </a:r>
          </a:p>
          <a:p>
            <a:pPr lvl="1"/>
            <a:r>
              <a:rPr lang="en-US" dirty="0"/>
              <a:t>Corpus building </a:t>
            </a:r>
          </a:p>
          <a:p>
            <a:pPr lvl="1"/>
            <a:r>
              <a:rPr lang="en-US" dirty="0"/>
              <a:t>Preprocessing and annotation </a:t>
            </a:r>
          </a:p>
          <a:p>
            <a:pPr lvl="1"/>
            <a:r>
              <a:rPr lang="en-US" dirty="0"/>
              <a:t>Analysis </a:t>
            </a:r>
          </a:p>
          <a:p>
            <a:pPr lvl="1"/>
            <a:r>
              <a:rPr lang="en-US" dirty="0"/>
              <a:t>Evaluation </a:t>
            </a:r>
          </a:p>
          <a:p>
            <a:r>
              <a:rPr lang="en-US" dirty="0"/>
              <a:t>Says the book can be approached in several ways:</a:t>
            </a:r>
          </a:p>
          <a:p>
            <a:pPr lvl="1"/>
            <a:r>
              <a:rPr lang="en-US" dirty="0"/>
              <a:t>By a particular research issue </a:t>
            </a:r>
          </a:p>
          <a:p>
            <a:pPr lvl="1"/>
            <a:r>
              <a:rPr lang="en-US" dirty="0"/>
              <a:t>By a specific step in the research process </a:t>
            </a:r>
          </a:p>
          <a:p>
            <a:pPr lvl="1"/>
            <a:r>
              <a:rPr lang="en-US" dirty="0"/>
              <a:t>In sequence, or in whatever order best serves the reader’s needs </a:t>
            </a:r>
          </a:p>
          <a:p>
            <a:r>
              <a:rPr lang="en-US" dirty="0"/>
              <a:t>Overall purpose: To provide a primer on the field and the process of computational literary studies.</a:t>
            </a:r>
          </a:p>
        </p:txBody>
      </p:sp>
    </p:spTree>
    <p:extLst>
      <p:ext uri="{BB962C8B-B14F-4D97-AF65-F5344CB8AC3E}">
        <p14:creationId xmlns:p14="http://schemas.microsoft.com/office/powerpoint/2010/main" val="22571603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9F569A-CA11-7A09-4CC2-D27B129FAC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E344A1-6E5D-B4F4-F346-C0F5360FE700}"/>
              </a:ext>
            </a:extLst>
          </p:cNvPr>
          <p:cNvSpPr>
            <a:spLocks noGrp="1"/>
          </p:cNvSpPr>
          <p:nvPr>
            <p:ph type="title"/>
          </p:nvPr>
        </p:nvSpPr>
        <p:spPr/>
        <p:txBody>
          <a:bodyPr/>
          <a:lstStyle/>
          <a:p>
            <a:r>
              <a:rPr lang="en-US" dirty="0"/>
              <a:t>Survey of General methods</a:t>
            </a:r>
          </a:p>
        </p:txBody>
      </p:sp>
      <p:sp>
        <p:nvSpPr>
          <p:cNvPr id="3" name="Content Placeholder 2">
            <a:extLst>
              <a:ext uri="{FF2B5EF4-FFF2-40B4-BE49-F238E27FC236}">
                <a16:creationId xmlns:a16="http://schemas.microsoft.com/office/drawing/2014/main" id="{B329DB12-4E83-8EF2-2481-17A71319FAFB}"/>
              </a:ext>
            </a:extLst>
          </p:cNvPr>
          <p:cNvSpPr>
            <a:spLocks noGrp="1"/>
          </p:cNvSpPr>
          <p:nvPr>
            <p:ph idx="1"/>
          </p:nvPr>
        </p:nvSpPr>
        <p:spPr>
          <a:xfrm>
            <a:off x="2231136" y="2638044"/>
            <a:ext cx="7729728" cy="3629752"/>
          </a:xfrm>
        </p:spPr>
        <p:txBody>
          <a:bodyPr>
            <a:normAutofit/>
          </a:bodyPr>
          <a:lstStyle/>
          <a:p>
            <a:pPr lvl="0"/>
            <a:r>
              <a:rPr lang="en-US" dirty="0"/>
              <a:t>What does this text suggest about the field of computational literary studies (CLS)? </a:t>
            </a:r>
          </a:p>
          <a:p>
            <a:pPr lvl="0"/>
            <a:r>
              <a:rPr lang="en-US" dirty="0"/>
              <a:t>Based on the reading, what is your working definition of CLS? </a:t>
            </a:r>
          </a:p>
          <a:p>
            <a:pPr lvl="0"/>
            <a:r>
              <a:rPr lang="en-US" dirty="0"/>
              <a:t>Which types of analysis discussed in the text interest you most? What kinds of questions might they allow us to investigate? </a:t>
            </a:r>
          </a:p>
          <a:p>
            <a:pPr lvl="0"/>
            <a:r>
              <a:rPr lang="en-US" dirty="0"/>
              <a:t>Did any steps in the analytical process surprise you? </a:t>
            </a:r>
          </a:p>
          <a:p>
            <a:pPr lvl="0"/>
            <a:r>
              <a:rPr lang="en-US" dirty="0"/>
              <a:t>How does this process compare with literary analysis you’ve done before? What feels familiar, and what feels different?</a:t>
            </a:r>
          </a:p>
        </p:txBody>
      </p:sp>
    </p:spTree>
    <p:extLst>
      <p:ext uri="{BB962C8B-B14F-4D97-AF65-F5344CB8AC3E}">
        <p14:creationId xmlns:p14="http://schemas.microsoft.com/office/powerpoint/2010/main" val="30317067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B65B53-AA73-FF9F-1997-3FCE714A1983}"/>
              </a:ext>
            </a:extLst>
          </p:cNvPr>
          <p:cNvSpPr>
            <a:spLocks noGrp="1"/>
          </p:cNvSpPr>
          <p:nvPr>
            <p:ph type="title"/>
          </p:nvPr>
        </p:nvSpPr>
        <p:spPr/>
        <p:txBody>
          <a:bodyPr/>
          <a:lstStyle/>
          <a:p>
            <a:r>
              <a:rPr lang="en-US" dirty="0"/>
              <a:t>Machine learning </a:t>
            </a:r>
            <a:br>
              <a:rPr lang="en-US" dirty="0"/>
            </a:br>
            <a:r>
              <a:rPr lang="en-US" dirty="0"/>
              <a:t>and Human perspective</a:t>
            </a:r>
          </a:p>
        </p:txBody>
      </p:sp>
      <p:pic>
        <p:nvPicPr>
          <p:cNvPr id="5" name="Content Placeholder 4">
            <a:extLst>
              <a:ext uri="{FF2B5EF4-FFF2-40B4-BE49-F238E27FC236}">
                <a16:creationId xmlns:a16="http://schemas.microsoft.com/office/drawing/2014/main" id="{E8DD814A-9212-4324-0D63-928C9ABA065F}"/>
              </a:ext>
            </a:extLst>
          </p:cNvPr>
          <p:cNvPicPr>
            <a:picLocks noGrp="1" noChangeAspect="1"/>
          </p:cNvPicPr>
          <p:nvPr>
            <p:ph idx="1"/>
          </p:nvPr>
        </p:nvPicPr>
        <p:blipFill>
          <a:blip r:embed="rId2"/>
          <a:stretch>
            <a:fillRect/>
          </a:stretch>
        </p:blipFill>
        <p:spPr>
          <a:xfrm>
            <a:off x="2650210" y="2359456"/>
            <a:ext cx="4552826" cy="4016790"/>
          </a:xfrm>
          <a:prstGeom prst="rect">
            <a:avLst/>
          </a:prstGeom>
        </p:spPr>
      </p:pic>
    </p:spTree>
    <p:extLst>
      <p:ext uri="{BB962C8B-B14F-4D97-AF65-F5344CB8AC3E}">
        <p14:creationId xmlns:p14="http://schemas.microsoft.com/office/powerpoint/2010/main" val="42472523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AD6D2F-FB49-9EBF-AE2E-612D9FD5E326}"/>
              </a:ext>
            </a:extLst>
          </p:cNvPr>
          <p:cNvSpPr>
            <a:spLocks noGrp="1"/>
          </p:cNvSpPr>
          <p:nvPr>
            <p:ph type="title"/>
          </p:nvPr>
        </p:nvSpPr>
        <p:spPr/>
        <p:txBody>
          <a:bodyPr/>
          <a:lstStyle/>
          <a:p>
            <a:r>
              <a:rPr lang="en-US" dirty="0"/>
              <a:t>Machine learning </a:t>
            </a:r>
            <a:br>
              <a:rPr lang="en-US" dirty="0"/>
            </a:br>
            <a:r>
              <a:rPr lang="en-US" dirty="0"/>
              <a:t>and Human perspective</a:t>
            </a:r>
          </a:p>
        </p:txBody>
      </p:sp>
      <p:pic>
        <p:nvPicPr>
          <p:cNvPr id="5" name="Content Placeholder 4">
            <a:extLst>
              <a:ext uri="{FF2B5EF4-FFF2-40B4-BE49-F238E27FC236}">
                <a16:creationId xmlns:a16="http://schemas.microsoft.com/office/drawing/2014/main" id="{0A52CF9D-D730-8B65-0107-8BDBDD4CB382}"/>
              </a:ext>
            </a:extLst>
          </p:cNvPr>
          <p:cNvPicPr>
            <a:picLocks noGrp="1" noChangeAspect="1"/>
          </p:cNvPicPr>
          <p:nvPr>
            <p:ph idx="1"/>
          </p:nvPr>
        </p:nvPicPr>
        <p:blipFill>
          <a:blip r:embed="rId2"/>
          <a:stretch>
            <a:fillRect/>
          </a:stretch>
        </p:blipFill>
        <p:spPr>
          <a:xfrm>
            <a:off x="3090788" y="2359456"/>
            <a:ext cx="6010423" cy="4041344"/>
          </a:xfrm>
          <a:prstGeom prst="rect">
            <a:avLst/>
          </a:prstGeom>
        </p:spPr>
      </p:pic>
    </p:spTree>
    <p:extLst>
      <p:ext uri="{BB962C8B-B14F-4D97-AF65-F5344CB8AC3E}">
        <p14:creationId xmlns:p14="http://schemas.microsoft.com/office/powerpoint/2010/main" val="16749398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1C20A5-68FC-90A0-5379-EA376BAEEE9B}"/>
              </a:ext>
            </a:extLst>
          </p:cNvPr>
          <p:cNvSpPr>
            <a:spLocks noGrp="1"/>
          </p:cNvSpPr>
          <p:nvPr>
            <p:ph type="title"/>
          </p:nvPr>
        </p:nvSpPr>
        <p:spPr/>
        <p:txBody>
          <a:bodyPr/>
          <a:lstStyle/>
          <a:p>
            <a:r>
              <a:rPr lang="en-US" dirty="0"/>
              <a:t>Machine learning </a:t>
            </a:r>
            <a:br>
              <a:rPr lang="en-US" dirty="0"/>
            </a:br>
            <a:r>
              <a:rPr lang="en-US" dirty="0"/>
              <a:t>and Human perspective</a:t>
            </a:r>
          </a:p>
        </p:txBody>
      </p:sp>
      <p:pic>
        <p:nvPicPr>
          <p:cNvPr id="5" name="Content Placeholder 4">
            <a:extLst>
              <a:ext uri="{FF2B5EF4-FFF2-40B4-BE49-F238E27FC236}">
                <a16:creationId xmlns:a16="http://schemas.microsoft.com/office/drawing/2014/main" id="{A352D795-09D9-C58C-4DF8-4155E9B745A8}"/>
              </a:ext>
            </a:extLst>
          </p:cNvPr>
          <p:cNvPicPr>
            <a:picLocks noGrp="1" noChangeAspect="1"/>
          </p:cNvPicPr>
          <p:nvPr>
            <p:ph idx="1"/>
          </p:nvPr>
        </p:nvPicPr>
        <p:blipFill>
          <a:blip r:embed="rId2"/>
          <a:stretch>
            <a:fillRect/>
          </a:stretch>
        </p:blipFill>
        <p:spPr>
          <a:xfrm>
            <a:off x="2847244" y="2297462"/>
            <a:ext cx="6497511" cy="4100537"/>
          </a:xfrm>
          <a:prstGeom prst="rect">
            <a:avLst/>
          </a:prstGeom>
        </p:spPr>
      </p:pic>
    </p:spTree>
    <p:extLst>
      <p:ext uri="{BB962C8B-B14F-4D97-AF65-F5344CB8AC3E}">
        <p14:creationId xmlns:p14="http://schemas.microsoft.com/office/powerpoint/2010/main" val="24694239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C7D530-5CC1-65B3-ACC7-A0C2EF9895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91CFEF-5E78-6DF0-4975-BBC08DAEF99B}"/>
              </a:ext>
            </a:extLst>
          </p:cNvPr>
          <p:cNvSpPr>
            <a:spLocks noGrp="1"/>
          </p:cNvSpPr>
          <p:nvPr>
            <p:ph type="title"/>
          </p:nvPr>
        </p:nvSpPr>
        <p:spPr/>
        <p:txBody>
          <a:bodyPr/>
          <a:lstStyle/>
          <a:p>
            <a:r>
              <a:rPr lang="en-US" dirty="0"/>
              <a:t>Machine learning </a:t>
            </a:r>
            <a:br>
              <a:rPr lang="en-US" dirty="0"/>
            </a:br>
            <a:r>
              <a:rPr lang="en-US" dirty="0"/>
              <a:t>and Human perspective</a:t>
            </a:r>
          </a:p>
        </p:txBody>
      </p:sp>
      <p:sp>
        <p:nvSpPr>
          <p:cNvPr id="3" name="Content Placeholder 2">
            <a:extLst>
              <a:ext uri="{FF2B5EF4-FFF2-40B4-BE49-F238E27FC236}">
                <a16:creationId xmlns:a16="http://schemas.microsoft.com/office/drawing/2014/main" id="{1964E10D-91B3-98E7-EAA9-20F7A8CE656E}"/>
              </a:ext>
            </a:extLst>
          </p:cNvPr>
          <p:cNvSpPr>
            <a:spLocks noGrp="1"/>
          </p:cNvSpPr>
          <p:nvPr>
            <p:ph idx="1"/>
          </p:nvPr>
        </p:nvSpPr>
        <p:spPr/>
        <p:txBody>
          <a:bodyPr>
            <a:normAutofit lnSpcReduction="10000"/>
          </a:bodyPr>
          <a:lstStyle/>
          <a:p>
            <a:pPr lvl="0"/>
            <a:r>
              <a:rPr lang="en-US" dirty="0"/>
              <a:t>What is Underwood’s central argument about machine learning and “perspective”? How does this challenge the idea that computational methods are objective? </a:t>
            </a:r>
          </a:p>
          <a:p>
            <a:pPr lvl="0"/>
            <a:r>
              <a:rPr lang="en-US" dirty="0"/>
              <a:t>How does Underwood use science fiction and fantasy to demonstrate this argument? What did you find most interesting or surprising about the results? </a:t>
            </a:r>
          </a:p>
          <a:p>
            <a:r>
              <a:rPr lang="en-US" dirty="0"/>
              <a:t>Why does it matter that Underwood builds models from classifications made by different groups—from historical advertisers to contemporary librarians? What do these different perspectives allow him to see? </a:t>
            </a:r>
          </a:p>
          <a:p>
            <a:pPr lvl="0"/>
            <a:r>
              <a:rPr lang="en-US" dirty="0"/>
              <a:t>More broadly, what does this example suggest machine learning can—and cannot—contribute to literary interpretation?</a:t>
            </a:r>
          </a:p>
        </p:txBody>
      </p:sp>
    </p:spTree>
    <p:extLst>
      <p:ext uri="{BB962C8B-B14F-4D97-AF65-F5344CB8AC3E}">
        <p14:creationId xmlns:p14="http://schemas.microsoft.com/office/powerpoint/2010/main" val="334466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3DE2B5-044E-73C5-69D5-42080D450BA4}"/>
              </a:ext>
            </a:extLst>
          </p:cNvPr>
          <p:cNvSpPr>
            <a:spLocks noGrp="1"/>
          </p:cNvSpPr>
          <p:nvPr>
            <p:ph type="title"/>
          </p:nvPr>
        </p:nvSpPr>
        <p:spPr/>
        <p:txBody>
          <a:bodyPr/>
          <a:lstStyle/>
          <a:p>
            <a:r>
              <a:rPr lang="en-US" dirty="0"/>
              <a:t>The computational case against computational literary studies</a:t>
            </a:r>
          </a:p>
        </p:txBody>
      </p:sp>
      <p:pic>
        <p:nvPicPr>
          <p:cNvPr id="5" name="Content Placeholder 4">
            <a:extLst>
              <a:ext uri="{FF2B5EF4-FFF2-40B4-BE49-F238E27FC236}">
                <a16:creationId xmlns:a16="http://schemas.microsoft.com/office/drawing/2014/main" id="{7FC554CC-B343-EF6C-7BB0-B8BB7573DD6B}"/>
              </a:ext>
            </a:extLst>
          </p:cNvPr>
          <p:cNvPicPr>
            <a:picLocks noGrp="1" noChangeAspect="1"/>
          </p:cNvPicPr>
          <p:nvPr>
            <p:ph idx="1"/>
          </p:nvPr>
        </p:nvPicPr>
        <p:blipFill>
          <a:blip r:embed="rId2"/>
          <a:stretch>
            <a:fillRect/>
          </a:stretch>
        </p:blipFill>
        <p:spPr>
          <a:xfrm>
            <a:off x="166103" y="2558074"/>
            <a:ext cx="5136405" cy="3663628"/>
          </a:xfrm>
          <a:prstGeom prst="rect">
            <a:avLst/>
          </a:prstGeom>
        </p:spPr>
      </p:pic>
      <p:pic>
        <p:nvPicPr>
          <p:cNvPr id="7" name="Picture 6">
            <a:extLst>
              <a:ext uri="{FF2B5EF4-FFF2-40B4-BE49-F238E27FC236}">
                <a16:creationId xmlns:a16="http://schemas.microsoft.com/office/drawing/2014/main" id="{FBD09A56-146D-CE64-20CF-0E107B2235AF}"/>
              </a:ext>
            </a:extLst>
          </p:cNvPr>
          <p:cNvPicPr>
            <a:picLocks noChangeAspect="1"/>
          </p:cNvPicPr>
          <p:nvPr/>
        </p:nvPicPr>
        <p:blipFill>
          <a:blip r:embed="rId3"/>
          <a:stretch>
            <a:fillRect/>
          </a:stretch>
        </p:blipFill>
        <p:spPr>
          <a:xfrm>
            <a:off x="5590333" y="2668269"/>
            <a:ext cx="6435564" cy="3553433"/>
          </a:xfrm>
          <a:prstGeom prst="rect">
            <a:avLst/>
          </a:prstGeom>
        </p:spPr>
      </p:pic>
    </p:spTree>
    <p:extLst>
      <p:ext uri="{BB962C8B-B14F-4D97-AF65-F5344CB8AC3E}">
        <p14:creationId xmlns:p14="http://schemas.microsoft.com/office/powerpoint/2010/main" val="4099103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DFBECC-4DA6-28DD-667D-6FC88FE2F2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ECCA1E-9A24-B8B6-700A-EBF11EA1D8D3}"/>
              </a:ext>
            </a:extLst>
          </p:cNvPr>
          <p:cNvSpPr>
            <a:spLocks noGrp="1"/>
          </p:cNvSpPr>
          <p:nvPr>
            <p:ph type="title"/>
          </p:nvPr>
        </p:nvSpPr>
        <p:spPr/>
        <p:txBody>
          <a:bodyPr/>
          <a:lstStyle/>
          <a:p>
            <a:r>
              <a:rPr lang="en-US" dirty="0"/>
              <a:t>The computational case against computational literary studies</a:t>
            </a:r>
          </a:p>
        </p:txBody>
      </p:sp>
      <p:sp>
        <p:nvSpPr>
          <p:cNvPr id="3" name="Content Placeholder 2">
            <a:extLst>
              <a:ext uri="{FF2B5EF4-FFF2-40B4-BE49-F238E27FC236}">
                <a16:creationId xmlns:a16="http://schemas.microsoft.com/office/drawing/2014/main" id="{573CFC8A-3801-F512-AACA-E4DE1FB01BED}"/>
              </a:ext>
            </a:extLst>
          </p:cNvPr>
          <p:cNvSpPr>
            <a:spLocks noGrp="1"/>
          </p:cNvSpPr>
          <p:nvPr>
            <p:ph idx="1"/>
          </p:nvPr>
        </p:nvSpPr>
        <p:spPr>
          <a:xfrm>
            <a:off x="2231136" y="2638044"/>
            <a:ext cx="7729728" cy="3607773"/>
          </a:xfrm>
        </p:spPr>
        <p:txBody>
          <a:bodyPr>
            <a:normAutofit/>
          </a:bodyPr>
          <a:lstStyle/>
          <a:p>
            <a:pPr lvl="0"/>
            <a:r>
              <a:rPr lang="en-US" dirty="0"/>
              <a:t>What is Da arguing </a:t>
            </a:r>
            <a:r>
              <a:rPr lang="en-US" i="1" dirty="0"/>
              <a:t>against</a:t>
            </a:r>
            <a:r>
              <a:rPr lang="en-US" dirty="0"/>
              <a:t>? What does she see as the fundamental problems with computational literary studies—not just individual studies or methods? </a:t>
            </a:r>
          </a:p>
          <a:p>
            <a:pPr lvl="0"/>
            <a:r>
              <a:rPr lang="en-US" dirty="0"/>
              <a:t>Which of </a:t>
            </a:r>
            <a:r>
              <a:rPr lang="en-US" dirty="0" err="1"/>
              <a:t>Da’s</a:t>
            </a:r>
            <a:r>
              <a:rPr lang="en-US" dirty="0"/>
              <a:t> critiques did you find most convincing? Which were you less convinced by? </a:t>
            </a:r>
          </a:p>
          <a:p>
            <a:pPr lvl="0"/>
            <a:r>
              <a:rPr lang="en-US" dirty="0"/>
              <a:t>Da published this critique in 2019. How might developments in computational methods since then complicate or limit her argument? Which of her criticisms are methodological problems that newer or better methods might address, and which are more fundamental? </a:t>
            </a:r>
          </a:p>
          <a:p>
            <a:pPr lvl="0"/>
            <a:r>
              <a:rPr lang="en-US" dirty="0"/>
              <a:t>Even if we reject </a:t>
            </a:r>
            <a:r>
              <a:rPr lang="en-US" dirty="0" err="1"/>
              <a:t>Da’s</a:t>
            </a:r>
            <a:r>
              <a:rPr lang="en-US" dirty="0"/>
              <a:t> larger conclusion about CLS, what warnings should computational researchers still take seriously? </a:t>
            </a:r>
          </a:p>
        </p:txBody>
      </p:sp>
    </p:spTree>
    <p:extLst>
      <p:ext uri="{BB962C8B-B14F-4D97-AF65-F5344CB8AC3E}">
        <p14:creationId xmlns:p14="http://schemas.microsoft.com/office/powerpoint/2010/main" val="34886042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B8B826-9E57-FA42-6A2C-D87A2C18A21D}"/>
              </a:ext>
            </a:extLst>
          </p:cNvPr>
          <p:cNvSpPr>
            <a:spLocks noGrp="1"/>
          </p:cNvSpPr>
          <p:nvPr>
            <p:ph type="title"/>
          </p:nvPr>
        </p:nvSpPr>
        <p:spPr/>
        <p:txBody>
          <a:bodyPr/>
          <a:lstStyle/>
          <a:p>
            <a:r>
              <a:rPr lang="en-US" dirty="0"/>
              <a:t>Teaching quantitative methods (What makes it hard)</a:t>
            </a:r>
          </a:p>
        </p:txBody>
      </p:sp>
      <p:sp>
        <p:nvSpPr>
          <p:cNvPr id="3" name="Content Placeholder 2">
            <a:extLst>
              <a:ext uri="{FF2B5EF4-FFF2-40B4-BE49-F238E27FC236}">
                <a16:creationId xmlns:a16="http://schemas.microsoft.com/office/drawing/2014/main" id="{313476B6-6E22-F88C-B13E-4E8F8C95FC53}"/>
              </a:ext>
            </a:extLst>
          </p:cNvPr>
          <p:cNvSpPr>
            <a:spLocks noGrp="1"/>
          </p:cNvSpPr>
          <p:nvPr>
            <p:ph idx="1"/>
          </p:nvPr>
        </p:nvSpPr>
        <p:spPr>
          <a:xfrm>
            <a:off x="2231136" y="2638044"/>
            <a:ext cx="7729728" cy="3613669"/>
          </a:xfrm>
        </p:spPr>
        <p:txBody>
          <a:bodyPr>
            <a:normAutofit lnSpcReduction="10000"/>
          </a:bodyPr>
          <a:lstStyle/>
          <a:p>
            <a:pPr lvl="0"/>
            <a:r>
              <a:rPr lang="en-US" dirty="0"/>
              <a:t>According to Goldstone, what makes learning quantitative or computational methods difficult for students of literature? Did any of these challenges resonate with you? </a:t>
            </a:r>
          </a:p>
          <a:p>
            <a:pPr lvl="0"/>
            <a:r>
              <a:rPr lang="en-US" dirty="0"/>
              <a:t>What distinction does Goldstone make between learning to code and learning to conduct quantitative research? Why does that distinction matter? </a:t>
            </a:r>
          </a:p>
          <a:p>
            <a:pPr lvl="0"/>
            <a:r>
              <a:rPr lang="en-US" dirty="0"/>
              <a:t>Goldstone describes several examples of students analyzing literature computationally. Which examples or possibilities stood out to you? </a:t>
            </a:r>
          </a:p>
          <a:p>
            <a:pPr lvl="0"/>
            <a:r>
              <a:rPr lang="en-US" dirty="0"/>
              <a:t>What does Goldstone suggest we can—and cannot—learn simply by counting, measuring, or visualizing features of texts? </a:t>
            </a:r>
          </a:p>
          <a:p>
            <a:r>
              <a:rPr lang="en-US" dirty="0"/>
              <a:t>After reading Goldstone, what questions or concerns do you have about learning computational methods in this course?</a:t>
            </a:r>
          </a:p>
        </p:txBody>
      </p:sp>
    </p:spTree>
    <p:extLst>
      <p:ext uri="{BB962C8B-B14F-4D97-AF65-F5344CB8AC3E}">
        <p14:creationId xmlns:p14="http://schemas.microsoft.com/office/powerpoint/2010/main" val="32555839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8578DE-E700-D2E9-5A9E-D4658B1748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C61E62-ACEE-ED07-43E9-13E3E511BBA5}"/>
              </a:ext>
            </a:extLst>
          </p:cNvPr>
          <p:cNvSpPr>
            <a:spLocks noGrp="1"/>
          </p:cNvSpPr>
          <p:nvPr>
            <p:ph type="title"/>
          </p:nvPr>
        </p:nvSpPr>
        <p:spPr/>
        <p:txBody>
          <a:bodyPr/>
          <a:lstStyle/>
          <a:p>
            <a:r>
              <a:rPr lang="en-US" dirty="0"/>
              <a:t>Digital text methods demo</a:t>
            </a:r>
          </a:p>
        </p:txBody>
      </p:sp>
      <p:sp>
        <p:nvSpPr>
          <p:cNvPr id="3" name="Content Placeholder 2">
            <a:extLst>
              <a:ext uri="{FF2B5EF4-FFF2-40B4-BE49-F238E27FC236}">
                <a16:creationId xmlns:a16="http://schemas.microsoft.com/office/drawing/2014/main" id="{27019C34-3674-CBFD-00F1-9387661AE479}"/>
              </a:ext>
            </a:extLst>
          </p:cNvPr>
          <p:cNvSpPr>
            <a:spLocks noGrp="1"/>
          </p:cNvSpPr>
          <p:nvPr>
            <p:ph idx="1"/>
          </p:nvPr>
        </p:nvSpPr>
        <p:spPr/>
        <p:txBody>
          <a:bodyPr/>
          <a:lstStyle/>
          <a:p>
            <a:r>
              <a:rPr lang="en-US" dirty="0"/>
              <a:t>Frequency Analysis in Voyant: </a:t>
            </a:r>
            <a:r>
              <a:rPr lang="en-US" dirty="0">
                <a:hlinkClick r:id="rId2"/>
              </a:rPr>
              <a:t>https://voyant.lincsproject.ca/?corpus=shakespeare</a:t>
            </a:r>
            <a:r>
              <a:rPr lang="en-US" dirty="0"/>
              <a:t> </a:t>
            </a:r>
          </a:p>
          <a:p>
            <a:r>
              <a:rPr lang="en-US" dirty="0"/>
              <a:t>Supervised Machine Classification with Python:  </a:t>
            </a:r>
            <a:r>
              <a:rPr lang="en-US" dirty="0">
                <a:hlinkClick r:id="rId3"/>
              </a:rPr>
              <a:t>https://colab.research.google.com/drive/1Vz_n3qLmQCwkgMHoq1JK1RR6haLh8fa0?usp=sharing</a:t>
            </a:r>
            <a:r>
              <a:rPr lang="en-US" dirty="0"/>
              <a:t> </a:t>
            </a:r>
          </a:p>
        </p:txBody>
      </p:sp>
    </p:spTree>
    <p:extLst>
      <p:ext uri="{BB962C8B-B14F-4D97-AF65-F5344CB8AC3E}">
        <p14:creationId xmlns:p14="http://schemas.microsoft.com/office/powerpoint/2010/main" val="37565574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DB7DB-C05D-4A43-9955-530DBF7F0D1A}"/>
              </a:ext>
            </a:extLst>
          </p:cNvPr>
          <p:cNvSpPr>
            <a:spLocks noGrp="1"/>
          </p:cNvSpPr>
          <p:nvPr>
            <p:ph type="title"/>
          </p:nvPr>
        </p:nvSpPr>
        <p:spPr/>
        <p:txBody>
          <a:bodyPr/>
          <a:lstStyle/>
          <a:p>
            <a:r>
              <a:rPr lang="en-US" dirty="0"/>
              <a:t>Due Next week</a:t>
            </a:r>
          </a:p>
        </p:txBody>
      </p:sp>
      <p:sp>
        <p:nvSpPr>
          <p:cNvPr id="3" name="Content Placeholder 2">
            <a:extLst>
              <a:ext uri="{FF2B5EF4-FFF2-40B4-BE49-F238E27FC236}">
                <a16:creationId xmlns:a16="http://schemas.microsoft.com/office/drawing/2014/main" id="{E7BCC705-D3F4-6E86-1DF6-D2AEF066EE87}"/>
              </a:ext>
            </a:extLst>
          </p:cNvPr>
          <p:cNvSpPr>
            <a:spLocks noGrp="1"/>
          </p:cNvSpPr>
          <p:nvPr>
            <p:ph idx="1"/>
          </p:nvPr>
        </p:nvSpPr>
        <p:spPr>
          <a:xfrm>
            <a:off x="2231136" y="2480310"/>
            <a:ext cx="7729728" cy="3749040"/>
          </a:xfrm>
        </p:spPr>
        <p:txBody>
          <a:bodyPr>
            <a:normAutofit fontScale="85000" lnSpcReduction="10000"/>
          </a:bodyPr>
          <a:lstStyle/>
          <a:p>
            <a:pPr marL="0" indent="0">
              <a:buNone/>
            </a:pPr>
            <a:r>
              <a:rPr lang="en-US" b="1" dirty="0"/>
              <a:t>Complete Readings:</a:t>
            </a:r>
          </a:p>
          <a:p>
            <a:pPr lvl="0"/>
            <a:r>
              <a:rPr lang="en-US" dirty="0"/>
              <a:t>Peter Boot,</a:t>
            </a:r>
            <a:r>
              <a:rPr lang="en-US" dirty="0">
                <a:hlinkClick r:id="rId2"/>
              </a:rPr>
              <a:t> “‘A Pretty Sublime Mix of WTF and OMG’: Four Explorations into the Practice of Evaluation on Online Book Reviewing Platforms”</a:t>
            </a:r>
            <a:r>
              <a:rPr lang="en-US" dirty="0"/>
              <a:t> (2023)</a:t>
            </a:r>
            <a:endParaRPr lang="en-US" sz="1600" dirty="0"/>
          </a:p>
          <a:p>
            <a:pPr lvl="0"/>
            <a:r>
              <a:rPr lang="en-US" dirty="0"/>
              <a:t>Mark Algee-Hewitt et al.,</a:t>
            </a:r>
            <a:r>
              <a:rPr lang="en-US" dirty="0">
                <a:hlinkClick r:id="rId3"/>
              </a:rPr>
              <a:t> </a:t>
            </a:r>
            <a:r>
              <a:rPr lang="en-US" i="1" dirty="0">
                <a:hlinkClick r:id="rId3"/>
              </a:rPr>
              <a:t>Canon/Archive: Large-Scale Dynamics in the Literary Field</a:t>
            </a:r>
            <a:r>
              <a:rPr lang="en-US" dirty="0"/>
              <a:t> (2016)</a:t>
            </a:r>
            <a:endParaRPr lang="en-US" sz="1600" dirty="0"/>
          </a:p>
          <a:p>
            <a:pPr lvl="0"/>
            <a:r>
              <a:rPr lang="en-US" dirty="0"/>
              <a:t>Ted Underwood, David Bamman, and Sabrina Lee,</a:t>
            </a:r>
            <a:r>
              <a:rPr lang="en-US" dirty="0">
                <a:hlinkClick r:id="rId4"/>
              </a:rPr>
              <a:t> “The Transformation of Gender in English-Language Fiction”</a:t>
            </a:r>
            <a:r>
              <a:rPr lang="en-US" dirty="0"/>
              <a:t> (2018).</a:t>
            </a:r>
            <a:endParaRPr lang="en-US" sz="1600" dirty="0"/>
          </a:p>
          <a:p>
            <a:pPr lvl="0"/>
            <a:r>
              <a:rPr lang="en-US" dirty="0"/>
              <a:t>Katherine Elkins,</a:t>
            </a:r>
            <a:r>
              <a:rPr lang="en-US" dirty="0">
                <a:hlinkClick r:id="rId5"/>
              </a:rPr>
              <a:t> “Beyond Plot: How Sentiment Analysis Reshapes Our Understanding of Narrative Structure”</a:t>
            </a:r>
            <a:r>
              <a:rPr lang="en-US" dirty="0"/>
              <a:t> (2025).</a:t>
            </a:r>
          </a:p>
          <a:p>
            <a:pPr marL="0" lvl="0" indent="0">
              <a:buNone/>
            </a:pPr>
            <a:r>
              <a:rPr lang="en-US" b="1" dirty="0"/>
              <a:t>Review Corpora: </a:t>
            </a:r>
          </a:p>
          <a:p>
            <a:pPr lvl="0"/>
            <a:r>
              <a:rPr lang="en-US" dirty="0">
                <a:hlinkClick r:id="rId6"/>
              </a:rPr>
              <a:t>CLiC Fiction Corpora</a:t>
            </a:r>
            <a:r>
              <a:rPr lang="en-US" dirty="0"/>
              <a:t>: nineteenth-century British novels and children’s literature</a:t>
            </a:r>
          </a:p>
          <a:p>
            <a:pPr lvl="0"/>
            <a:r>
              <a:rPr lang="en-US" dirty="0">
                <a:hlinkClick r:id="rId7"/>
              </a:rPr>
              <a:t>Folger Shakespeare Corpus</a:t>
            </a:r>
            <a:r>
              <a:rPr lang="en-US" dirty="0"/>
              <a:t>: Shakespeare’s plays and poetry</a:t>
            </a:r>
          </a:p>
          <a:p>
            <a:pPr lvl="0"/>
            <a:r>
              <a:rPr lang="en-US" dirty="0">
                <a:hlinkClick r:id="rId8"/>
              </a:rPr>
              <a:t>Project Gutenberg Poetry Corpus</a:t>
            </a:r>
            <a:r>
              <a:rPr lang="en-US" dirty="0"/>
              <a:t>: a large collection of public-domain English-language poetry</a:t>
            </a:r>
          </a:p>
          <a:p>
            <a:endParaRPr lang="en-US" dirty="0"/>
          </a:p>
        </p:txBody>
      </p:sp>
    </p:spTree>
    <p:extLst>
      <p:ext uri="{BB962C8B-B14F-4D97-AF65-F5344CB8AC3E}">
        <p14:creationId xmlns:p14="http://schemas.microsoft.com/office/powerpoint/2010/main" val="2223625668"/>
      </p:ext>
    </p:extLst>
  </p:cSld>
  <p:clrMapOvr>
    <a:masterClrMapping/>
  </p:clrMapOvr>
</p:sld>
</file>

<file path=ppt/theme/theme1.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Parcel</Template>
  <TotalTime>1233</TotalTime>
  <Words>1061</Words>
  <Application>Microsoft Macintosh PowerPoint</Application>
  <PresentationFormat>Widescreen</PresentationFormat>
  <Paragraphs>96</Paragraphs>
  <Slides>18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Aptos</vt:lpstr>
      <vt:lpstr>Arial</vt:lpstr>
      <vt:lpstr>Gill Sans MT</vt:lpstr>
      <vt:lpstr>Parcel</vt:lpstr>
      <vt:lpstr>Welcome to digital text methods</vt:lpstr>
      <vt:lpstr>Agenda</vt:lpstr>
      <vt:lpstr>Course goals</vt:lpstr>
      <vt:lpstr>Syllabus</vt:lpstr>
      <vt:lpstr>Break!</vt:lpstr>
      <vt:lpstr>Readings</vt:lpstr>
      <vt:lpstr>Survey of General methods</vt:lpstr>
      <vt:lpstr>Survey of General methods</vt:lpstr>
      <vt:lpstr>Survey of General methods</vt:lpstr>
      <vt:lpstr>Machine learning  and Human perspective</vt:lpstr>
      <vt:lpstr>Machine learning  and Human perspective</vt:lpstr>
      <vt:lpstr>Machine learning  and Human perspective</vt:lpstr>
      <vt:lpstr>Machine learning  and Human perspective</vt:lpstr>
      <vt:lpstr>The computational case against computational literary studies</vt:lpstr>
      <vt:lpstr>The computational case against computational literary studies</vt:lpstr>
      <vt:lpstr>Teaching quantitative methods (What makes it hard)</vt:lpstr>
      <vt:lpstr>Digital text methods demo</vt:lpstr>
      <vt:lpstr>Due Next week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Megan Kane</dc:creator>
  <cp:lastModifiedBy>Megan Kane</cp:lastModifiedBy>
  <cp:revision>1</cp:revision>
  <dcterms:created xsi:type="dcterms:W3CDTF">2026-08-31T17:39:18Z</dcterms:created>
  <dcterms:modified xsi:type="dcterms:W3CDTF">2026-09-01T14:13:12Z</dcterms:modified>
</cp:coreProperties>
</file>